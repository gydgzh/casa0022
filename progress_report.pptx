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502920"/>
            <a:ext cx="2194560" cy="2194560"/>
          </a:xfrm>
          <a:prstGeom prst="ellipse">
            <a:avLst/>
          </a:prstGeom>
          <a:solidFill>
            <a:srgbClr val="7BE0C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1000" y="3566160"/>
            <a:ext cx="1554480" cy="1554480"/>
          </a:xfrm>
          <a:prstGeom prst="ellipse">
            <a:avLst/>
          </a:prstGeom>
          <a:solidFill>
            <a:srgbClr val="7BE0C9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64008" cy="2331720"/>
          </a:xfrm>
          <a:prstGeom prst="rect">
            <a:avLst/>
          </a:prstGeom>
          <a:solidFill>
            <a:srgbClr val="7B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Holographic Virtual Librarian</a:t>
            </a:r>
            <a:endParaRPr sz="34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239572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7BE0C9"/>
                </a:solidFill>
                <a:latin typeface="Calibri Light"/>
              </a:rPr>
              <a:t>Dissertation Progress Report</a:t>
            </a:r>
            <a:endParaRPr sz="2000" b="0" i="1">
              <a:solidFill>
                <a:srgbClr val="7BE0C9"/>
              </a:solidFill>
              <a:latin typeface="Calibri Ligh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232" y="3035808"/>
            <a:ext cx="7680960" cy="2286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20040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7BE0C9"/>
                </a:solidFill>
                <a:latin typeface="Calibri"/>
              </a:rPr>
              <a:t>Technologies: </a:t>
            </a:r>
            <a:r>
              <a:rPr sz="1150" b="0">
                <a:solidFill>
                  <a:srgbClr val="E8E8E8"/>
                </a:solidFill>
                <a:latin typeface="Calibri"/>
              </a:rPr>
              <a:t>MediaPipe  ·  Three.js  ·  three-vrm  ·  WebSocket  ·  Pepper's Ghost</a:t>
            </a:r>
            <a:endParaRPr sz="1150" b="0">
              <a:solidFill>
                <a:srgbClr val="E8E8E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374903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5A"/>
                </a:solidFill>
                <a:latin typeface="Calibri"/>
              </a:rPr>
              <a:t>UCL CASA0018  ·  May 2026</a:t>
            </a:r>
            <a:endParaRPr sz="1050" b="0" i="0">
              <a:solidFill>
                <a:srgbClr val="3A4A5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Technical Milestones &amp; Current Progress</a:t>
            </a:r>
            <a:endParaRPr sz="2200" b="1" i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4048" y="777240"/>
            <a:ext cx="8375904" cy="36576"/>
          </a:xfrm>
          <a:prstGeom prst="rect">
            <a:avLst/>
          </a:prstGeom>
          <a:solidFill>
            <a:srgbClr val="7B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868680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BFAA"/>
                </a:solidFill>
                <a:latin typeface="Calibri"/>
              </a:rPr>
              <a:t>Challenges Resolved</a:t>
            </a:r>
            <a:endParaRPr sz="1200" b="1" i="0">
              <a:solidFill>
                <a:srgbClr val="3ABFA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4048" y="1234440"/>
            <a:ext cx="4251960" cy="1316736"/>
          </a:xfrm>
          <a:prstGeom prst="rect">
            <a:avLst/>
          </a:prstGeom>
          <a:solidFill>
            <a:srgbClr val="F0FAF8"/>
          </a:solidFill>
          <a:ln w="9525">
            <a:solidFill>
              <a:srgbClr val="C7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64008" cy="1316736"/>
          </a:xfrm>
          <a:prstGeom prst="rect">
            <a:avLst/>
          </a:prstGeom>
          <a:solidFill>
            <a:srgbClr val="7B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9304"/>
            <a:ext cx="3995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01  Coordinate Space Alignment</a:t>
            </a:r>
            <a:endParaRPr sz="1150" b="1" i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609344"/>
            <a:ext cx="399592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MediaPipe outputs a row-major float32 matrix in camera space (+Y down, +Z into screen). Three.js expects column-major with Y-up. Fix: transpose the matrix, then negate yaw (Y) and roll (Z) Euler angles to correct the front-camera mirror effect.</a:t>
            </a:r>
            <a:endParaRPr sz="10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4048" y="2660904"/>
            <a:ext cx="4251960" cy="1316736"/>
          </a:xfrm>
          <a:prstGeom prst="rect">
            <a:avLst/>
          </a:prstGeom>
          <a:solidFill>
            <a:srgbClr val="F0FAF8"/>
          </a:solidFill>
          <a:ln w="9525">
            <a:solidFill>
              <a:srgbClr val="C7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2660904"/>
            <a:ext cx="64008" cy="1316736"/>
          </a:xfrm>
          <a:prstGeom prst="rect">
            <a:avLst/>
          </a:prstGeom>
          <a:solidFill>
            <a:srgbClr val="7B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8"/>
            <a:ext cx="3995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02  VRM Humanoid Bone Update Mechanism</a:t>
            </a:r>
            <a:endParaRPr sz="1150" b="1" i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99592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In three-vrm v3, getNormalizedBoneNode() returns a virtual node. Writing rotations to it has no visual effect until vrm.humanoid.update() is called explicitly every frame — the root cause of head rotation appearing frozen. Resolved after extensive debugging.</a:t>
            </a:r>
            <a:endParaRPr sz="10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868680"/>
            <a:ext cx="3950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BFAA"/>
                </a:solidFill>
                <a:latin typeface="Calibri"/>
              </a:rPr>
              <a:t>Progress Updates</a:t>
            </a:r>
            <a:endParaRPr sz="1200" b="1" i="0">
              <a:solidFill>
                <a:srgbClr val="3ABFA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00600" y="1234440"/>
            <a:ext cx="3950208" cy="1316736"/>
          </a:xfrm>
          <a:prstGeom prst="rect">
            <a:avLst/>
          </a:prstGeom>
          <a:solidFill>
            <a:srgbClr val="F0FAF8"/>
          </a:solidFill>
          <a:ln w="9525">
            <a:solidFill>
              <a:srgbClr val="C7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1234440"/>
            <a:ext cx="64008" cy="1316736"/>
          </a:xfrm>
          <a:prstGeom prst="rect">
            <a:avLst/>
          </a:prstGeom>
          <a:solidFill>
            <a:srgbClr val="3AB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1289304"/>
            <a:ext cx="3694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iPad 7/8 Device Testing</a:t>
            </a:r>
            <a:endParaRPr sz="1150" b="1" i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65192" y="1609344"/>
            <a:ext cx="369417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Web app transferred to iPad via USB + HTTPS. A QR code enables quick launch — currently requires device and host Mac to share the same Wi-Fi network. Remote/public access will be addressed in a future iteration.</a:t>
            </a:r>
            <a:endParaRPr sz="10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00600" y="2660904"/>
            <a:ext cx="3950208" cy="1316736"/>
          </a:xfrm>
          <a:prstGeom prst="rect">
            <a:avLst/>
          </a:prstGeom>
          <a:solidFill>
            <a:srgbClr val="F0FAF8"/>
          </a:solidFill>
          <a:ln w="9525">
            <a:solidFill>
              <a:srgbClr val="C7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2660904"/>
            <a:ext cx="64008" cy="1316736"/>
          </a:xfrm>
          <a:prstGeom prst="rect">
            <a:avLst/>
          </a:prstGeom>
          <a:solidFill>
            <a:srgbClr val="3AB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715768"/>
            <a:ext cx="3694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Model &amp; Visual Upgrade</a:t>
            </a:r>
            <a:endParaRPr sz="1150" b="1" i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65192" y="3035808"/>
            <a:ext cx="369417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Background set to pure black — essential for Pepper's Ghost (dark areas invisible through acrylic). Upgraded to a VRM model with more natural skeleton binding. VRM provides built-in humanoid bone mapping and ARKit-compatible expressions, eliminating manual rigging.</a:t>
            </a:r>
            <a:endParaRPr sz="10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4048" y="4114800"/>
            <a:ext cx="8375904" cy="694944"/>
          </a:xfrm>
          <a:prstGeom prst="rect">
            <a:avLst/>
          </a:prstGeom>
          <a:solidFill>
            <a:srgbClr val="F0FAF8"/>
          </a:solidFill>
          <a:ln w="9525">
            <a:solidFill>
              <a:srgbClr val="C7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169663"/>
            <a:ext cx="8010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ABFAA"/>
                </a:solidFill>
                <a:latin typeface="Calibri"/>
              </a:rPr>
              <a:t>Current Status: </a:t>
            </a:r>
            <a:r>
              <a:rPr sz="1050" b="0">
                <a:solidFill>
                  <a:srgbClr val="1A1A2E"/>
                </a:solidFill>
                <a:latin typeface="Calibri"/>
              </a:rPr>
              <a:t>Face tracking (52 ARKit blendshapes) + full head rotation (nod / turn / roll) running live on Mac &amp; iPad. Body stable; arms in natural rest pose.</a:t>
            </a:r>
            <a:endParaRPr sz="1050" b="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3108960"/>
            <a:ext cx="2926080" cy="2926080"/>
          </a:xfrm>
          <a:prstGeom prst="ellipse">
            <a:avLst/>
          </a:prstGeom>
          <a:solidFill>
            <a:srgbClr val="7BE0C9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18120" y="-777240"/>
            <a:ext cx="2011680" cy="2011680"/>
          </a:xfrm>
          <a:prstGeom prst="ellipse">
            <a:avLst/>
          </a:prstGeom>
          <a:solidFill>
            <a:srgbClr val="7BE0C9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Roadmap — Next Steps</a:t>
            </a:r>
            <a:endParaRPr sz="2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3291840" cy="36576"/>
          </a:xfrm>
          <a:prstGeom prst="rect">
            <a:avLst/>
          </a:prstGeom>
          <a:solidFill>
            <a:srgbClr val="7B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005840"/>
            <a:ext cx="475488" cy="475488"/>
          </a:xfrm>
          <a:prstGeom prst="ellipse">
            <a:avLst/>
          </a:prstGeom>
          <a:solidFill>
            <a:srgbClr val="7B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984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alibri"/>
              </a:rPr>
              <a:t>1</a:t>
            </a:r>
            <a:endParaRPr sz="1500" b="1" i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97280" y="1005840"/>
            <a:ext cx="7635240" cy="950976"/>
          </a:xfrm>
          <a:prstGeom prst="rect">
            <a:avLst/>
          </a:prstGeom>
          <a:solidFill>
            <a:srgbClr val="161B22"/>
          </a:solidFill>
          <a:ln w="9525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069848"/>
            <a:ext cx="7315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BE0C9"/>
                </a:solidFill>
                <a:latin typeface="Calibri"/>
              </a:rPr>
              <a:t>Upper Body Motion Capture</a:t>
            </a:r>
            <a:endParaRPr sz="1250" b="1" i="0">
              <a:solidFill>
                <a:srgbClr val="7BE0C9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43584" y="1389888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Calibri"/>
              </a:rPr>
              <a:t>Integrate MediaPipe PoseLandmarker 3D world coordinates to drive shoulder, spine, and arm bones. Target: natural arm elevation, forearm bend, and shoulder roll matching the user's live movements.</a:t>
            </a:r>
            <a:endParaRPr sz="1050" b="0" i="0">
              <a:solidFill>
                <a:srgbClr val="E8E8E8"/>
              </a:solidFill>
              <a:latin typeface="Calibr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2920" y="2121408"/>
            <a:ext cx="475488" cy="475488"/>
          </a:xfrm>
          <a:prstGeom prst="ellipse">
            <a:avLst/>
          </a:prstGeom>
          <a:solidFill>
            <a:srgbClr val="7B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85415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alibri"/>
              </a:rPr>
              <a:t>2</a:t>
            </a:r>
            <a:endParaRPr sz="1500" b="1" i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7280" y="2121408"/>
            <a:ext cx="7635240" cy="950976"/>
          </a:xfrm>
          <a:prstGeom prst="rect">
            <a:avLst/>
          </a:prstGeom>
          <a:solidFill>
            <a:srgbClr val="161B22"/>
          </a:solidFill>
          <a:ln w="9525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2185415"/>
            <a:ext cx="7315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BE0C9"/>
                </a:solidFill>
                <a:latin typeface="Calibri"/>
              </a:rPr>
              <a:t>Hand &amp; Gesture Tracking</a:t>
            </a:r>
            <a:endParaRPr sz="1250" b="1" i="0">
              <a:solidFill>
                <a:srgbClr val="7BE0C9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43584" y="2505456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Calibri"/>
              </a:rPr>
              <a:t>Add MediaPipe HandLandmarker to capture wrist and finger poses. Map hand landmarks to VRM finger bone rotations, enabling expressive gestures: pointing, waving, and open/closed hand.</a:t>
            </a:r>
            <a:endParaRPr sz="1050" b="0" i="0">
              <a:solidFill>
                <a:srgbClr val="E8E8E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4773168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5A"/>
                </a:solidFill>
                <a:latin typeface="Calibri"/>
              </a:rPr>
              <a:t>Holographic Virtual Librarian  ·  CASA0018  ·  UCL  ·  2026</a:t>
            </a:r>
            <a:endParaRPr sz="850" b="0" i="0">
              <a:solidFill>
                <a:srgbClr val="3A4A5A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1997</Words>
  <Application>WPS 文字</Application>
  <PresentationFormat>On-screen Show (4:3)</PresentationFormat>
  <Paragraphs>48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Helvetica Neue</vt:lpstr>
      <vt:lpstr>Calibri Light</vt:lpstr>
      <vt:lpstr>微软雅黑</vt:lpstr>
      <vt:lpstr>汉仪旗黑</vt:lpstr>
      <vt:lpstr>宋体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WPS_1602149252</cp:lastModifiedBy>
  <cp:revision>2</cp:revision>
  <dcterms:created xsi:type="dcterms:W3CDTF">2026-05-26T09:06:45Z</dcterms:created>
  <dcterms:modified xsi:type="dcterms:W3CDTF">2026-05-26T09:06:45Z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271566D28CAA3F69A562156A6CE08AD2_42</vt:lpwstr>
  </property>
  <property fmtid="{D5CDD505-2E9C-101B-9397-08002B2CF9AE}" pid="3" name="KSOProductBuildVer">
    <vt:lpwstr>2052-6.7.1.8828</vt:lpwstr>
  </property>
</Properties>
</file>