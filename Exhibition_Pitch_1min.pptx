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everyone! My name is Yidan. This is my project - the Holographic Virtual Librarian.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iPad lies flat on the desk. An acrylic pyramid stands on top. The screen reflects into the pyramid - so a 3D librarian floats in the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has three skills. First, she can SEE. A camera tracks my face with AI. When I smile - she smiles. All in real time.  (DEMO: smile at the iPad)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Second, she can LISTEN. Say Hello to wake her up. Then say a topic, like space - and she recommends a book. All offline, no internet.  (DEMO: say Hello, then space)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Third, she can FEEL the room. My sensor box reads distance, temperature, and NFC tags inside books. Put a book on the desk - she knows it, and recommends a matching film.  (DEMO: put the book on the reader)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hardware, the firmware, and the app - all self-made. It runs alone for a whole week. 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1417320"/>
            <a:ext cx="3840480" cy="3291840"/>
          </a:xfrm>
          <a:prstGeom prst="triangle">
            <a:avLst/>
          </a:prstGeom>
          <a:solidFill>
            <a:srgbClr val="13201B"/>
          </a:solidFill>
          <a:ln w="19050">
            <a:solidFill>
              <a:srgbClr val="7BE0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4800600"/>
            <a:ext cx="3474720" cy="256032"/>
          </a:xfrm>
          <a:prstGeom prst="roundRect">
            <a:avLst>
              <a:gd name="adj" fmla="val 35714"/>
            </a:avLst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2468880"/>
            <a:ext cx="640080" cy="640080"/>
          </a:xfrm>
          <a:prstGeom prst="ellipse">
            <a:avLst/>
          </a:prstGeom>
          <a:solidFill>
            <a:srgbClr val="7BE0C9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3154680"/>
            <a:ext cx="1005840" cy="1234440"/>
          </a:xfrm>
          <a:prstGeom prst="ellipse">
            <a:avLst/>
          </a:prstGeom>
          <a:solidFill>
            <a:srgbClr val="7BE0C9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5138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in mid-air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Holographic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Librarian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librarian who sees you, listens to you,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knows the book on your desk.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Yidan Gao · UCL CASA · MSc Dissertation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hologram works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71907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iPad lies flat on the desk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304495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acrylic pyramid stands on top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43708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reflection floats in mid-air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Victorian trick called "Pepper's Ghost"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3108960" cy="2651760"/>
          </a:xfrm>
          <a:prstGeom prst="triangle">
            <a:avLst/>
          </a:prstGeom>
          <a:solidFill>
            <a:srgbClr val="13201B"/>
          </a:solidFill>
          <a:ln w="19050">
            <a:solidFill>
              <a:srgbClr val="7BE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9408" y="2743200"/>
            <a:ext cx="457200" cy="457200"/>
          </a:xfrm>
          <a:prstGeom prst="ellipse">
            <a:avLst/>
          </a:prstGeom>
          <a:solidFill>
            <a:srgbClr val="7BE0C9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42248" y="3246120"/>
            <a:ext cx="731520" cy="960120"/>
          </a:xfrm>
          <a:prstGeom prst="ellipse">
            <a:avLst/>
          </a:prstGeom>
          <a:solidFill>
            <a:srgbClr val="7BE0C9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60920" y="4709160"/>
            <a:ext cx="3657600" cy="292608"/>
          </a:xfrm>
          <a:prstGeom prst="roundRect">
            <a:avLst>
              <a:gd name="adj" fmla="val 37500"/>
            </a:avLst>
          </a:prstGeom>
          <a:solidFill>
            <a:srgbClr val="182A23"/>
          </a:solidFill>
          <a:ln w="12700">
            <a:solidFill>
              <a:srgbClr val="93A8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(screen up)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acrylic pyramid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librarian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here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777240" cy="777240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753466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1 — She can SEE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21488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tracks the visitor's face with AI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facial expressions, live on the 3D avatar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runs ON the iPad — no cloud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0" y="2286000"/>
            <a:ext cx="2148840" cy="2468880"/>
          </a:xfrm>
          <a:prstGeom prst="roundRect">
            <a:avLst>
              <a:gd name="adj" fmla="val 6383"/>
            </a:avLst>
          </a:prstGeom>
          <a:solidFill>
            <a:srgbClr val="13201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697480"/>
            <a:ext cx="868680" cy="868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smile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95360" y="3154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9326880" y="2286000"/>
            <a:ext cx="2148840" cy="2468880"/>
          </a:xfrm>
          <a:prstGeom prst="roundRect">
            <a:avLst>
              <a:gd name="adj" fmla="val 6383"/>
            </a:avLst>
          </a:prstGeom>
          <a:solidFill>
            <a:srgbClr val="13201B"/>
          </a:solidFill>
          <a:ln w="12700">
            <a:solidFill>
              <a:srgbClr val="7BE0C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697480"/>
            <a:ext cx="868680" cy="868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smiles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00800" y="4937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777240" cy="777240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753466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2 — She can LISTEN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85800" y="237744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13201B"/>
          </a:solidFill>
          <a:ln w="12700">
            <a:solidFill>
              <a:srgbClr val="7BE0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“Hello”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752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611880" y="2377440"/>
            <a:ext cx="2103120" cy="1371600"/>
          </a:xfrm>
          <a:prstGeom prst="roundRect">
            <a:avLst>
              <a:gd name="adj" fmla="val 12000"/>
            </a:avLst>
          </a:prstGeom>
          <a:solidFill>
            <a:srgbClr val="182A23"/>
          </a:solidFill>
          <a:ln w="12700">
            <a:solidFill>
              <a:srgbClr val="182A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560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ding! she wakes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76072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6355080" y="237744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13201B"/>
          </a:solidFill>
          <a:ln w="12700">
            <a:solidFill>
              <a:srgbClr val="7BE0C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5508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“space”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3550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topic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9281160" y="2148840"/>
            <a:ext cx="2240280" cy="1828800"/>
          </a:xfrm>
          <a:prstGeom prst="roundRect">
            <a:avLst>
              <a:gd name="adj" fmla="val 9000"/>
            </a:avLst>
          </a:prstGeom>
          <a:solidFill>
            <a:srgbClr val="13201B"/>
          </a:solidFill>
          <a:ln w="15875">
            <a:solidFill>
              <a:srgbClr val="F5B1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2359152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5B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 History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5B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Time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 runs fully offline, on the device — no internet at the exhibition.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777240" cy="777240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753466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3 — She can FEEL the room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1536192" cy="475488"/>
          </a:xfrm>
          <a:prstGeom prst="roundRect">
            <a:avLst>
              <a:gd name="adj" fmla="val 38462"/>
            </a:avLst>
          </a:prstGeom>
          <a:solidFill>
            <a:srgbClr val="182A23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7830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 distance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50592" y="1783080"/>
            <a:ext cx="1440180" cy="475488"/>
          </a:xfrm>
          <a:prstGeom prst="roundRect">
            <a:avLst>
              <a:gd name="adj" fmla="val 38462"/>
            </a:avLst>
          </a:prstGeom>
          <a:solidFill>
            <a:srgbClr val="182A23"/>
          </a:solidFill>
          <a:ln/>
        </p:spPr>
      </p:sp>
      <p:sp>
        <p:nvSpPr>
          <p:cNvPr id="8" name="Text 5"/>
          <p:cNvSpPr/>
          <p:nvPr/>
        </p:nvSpPr>
        <p:spPr>
          <a:xfrm>
            <a:off x="2450592" y="1783080"/>
            <a:ext cx="14401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9372" y="1783080"/>
            <a:ext cx="1152144" cy="475488"/>
          </a:xfrm>
          <a:prstGeom prst="roundRect">
            <a:avLst>
              <a:gd name="adj" fmla="val 38462"/>
            </a:avLst>
          </a:prstGeom>
          <a:solidFill>
            <a:srgbClr val="182A23"/>
          </a:solidFill>
          <a:ln/>
        </p:spPr>
      </p:sp>
      <p:sp>
        <p:nvSpPr>
          <p:cNvPr id="10" name="Text 7"/>
          <p:cNvSpPr/>
          <p:nvPr/>
        </p:nvSpPr>
        <p:spPr>
          <a:xfrm>
            <a:off x="4119372" y="1783080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00116" y="1783080"/>
            <a:ext cx="1632204" cy="475488"/>
          </a:xfrm>
          <a:prstGeom prst="roundRect">
            <a:avLst>
              <a:gd name="adj" fmla="val 38462"/>
            </a:avLst>
          </a:prstGeom>
          <a:solidFill>
            <a:srgbClr val="182A23"/>
          </a:solidFill>
          <a:ln/>
        </p:spPr>
      </p:sp>
      <p:sp>
        <p:nvSpPr>
          <p:cNvPr id="12" name="Text 9"/>
          <p:cNvSpPr/>
          <p:nvPr/>
        </p:nvSpPr>
        <p:spPr>
          <a:xfrm>
            <a:off x="5500116" y="1783080"/>
            <a:ext cx="1632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book tags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52360" y="17830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self-made sensor box, talking to the iPad over its own Wi-Fi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88720" y="3017520"/>
            <a:ext cx="3931920" cy="2103120"/>
          </a:xfrm>
          <a:prstGeom prst="roundRect">
            <a:avLst>
              <a:gd name="adj" fmla="val 7826"/>
            </a:avLst>
          </a:prstGeom>
          <a:solidFill>
            <a:srgbClr val="13201B"/>
          </a:solidFill>
          <a:ln w="15875">
            <a:solidFill>
              <a:srgbClr val="F5B16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9184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book on the desk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8872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reads the NFC tag inside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4924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B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6309360" y="3017520"/>
            <a:ext cx="4663440" cy="2103120"/>
          </a:xfrm>
          <a:prstGeom prst="roundRect">
            <a:avLst>
              <a:gd name="adj" fmla="val 7826"/>
            </a:avLst>
          </a:prstGeom>
          <a:solidFill>
            <a:srgbClr val="13201B"/>
          </a:solidFill>
          <a:ln w="15875">
            <a:solidFill>
              <a:srgbClr val="F5B16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29184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4160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…she recommends a matching film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0936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“Image of the City”  →  Blade Runner 2049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777240" cy="777240"/>
          </a:xfrm>
          <a:prstGeom prst="ellipse">
            <a:avLst/>
          </a:prstGeom>
          <a:solidFill>
            <a:srgbClr val="182A23"/>
          </a:solidFill>
          <a:ln w="9525">
            <a:solidFill>
              <a:srgbClr val="7BE0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753466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self-made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85800" y="1920240"/>
            <a:ext cx="3246120" cy="2011680"/>
          </a:xfrm>
          <a:prstGeom prst="roundRect">
            <a:avLst>
              <a:gd name="adj" fmla="val 6818"/>
            </a:avLst>
          </a:prstGeom>
          <a:solidFill>
            <a:srgbClr val="13201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sensor box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 · BME280 · PN532 NFC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06240" y="1920240"/>
            <a:ext cx="3246120" cy="2011680"/>
          </a:xfrm>
          <a:prstGeom prst="roundRect">
            <a:avLst>
              <a:gd name="adj" fmla="val 6818"/>
            </a:avLst>
          </a:prstGeom>
          <a:solidFill>
            <a:srgbClr val="13201B"/>
          </a:solidFill>
          <a:ln/>
        </p:spPr>
      </p:sp>
      <p:sp>
        <p:nvSpPr>
          <p:cNvPr id="9" name="Text 6"/>
          <p:cNvSpPr/>
          <p:nvPr/>
        </p:nvSpPr>
        <p:spPr>
          <a:xfrm>
            <a:off x="443484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34840" y="2697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watchdog + auto-recovery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26680" y="1920240"/>
            <a:ext cx="3246120" cy="2011680"/>
          </a:xfrm>
          <a:prstGeom prst="roundRect">
            <a:avLst>
              <a:gd name="adj" fmla="val 6818"/>
            </a:avLst>
          </a:prstGeom>
          <a:solidFill>
            <a:srgbClr val="13201B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955280" y="2697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on a 2018 iPad (2 GB)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+ speech + hologram render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E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unattended for a whole week — it heals itself.</a:t>
            </a:r>
            <a:endParaRPr lang="en-US" sz="1600" dirty="0"/>
          </a:p>
        </p:txBody>
      </p:sp>
      <p:pic>
        <p:nvPicPr>
          <p:cNvPr id="15" name="Image 1" descr="/Users/yimisheng/Desktop/AAAucl-2025/0022Dissertation/1111D/HolographicLibrarian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892040"/>
            <a:ext cx="1463040" cy="1463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0" y="5532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85800" y="5394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2026-07-16T11:57:17Z</dcterms:created>
  <dcterms:modified xsi:type="dcterms:W3CDTF">2026-07-16T11:57:17Z</dcterms:modified>
</cp:coreProperties>
</file>